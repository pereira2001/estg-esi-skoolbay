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21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go Filipe Gonçalves Pereira" userId="ec5947ca-8bf3-45ed-bfa6-3d31e954aa0d" providerId="ADAL" clId="{E572DA55-8800-5369-A864-4B09001BCD8B}"/>
    <pc:docChg chg="modSld">
      <pc:chgData name="Diogo Filipe Gonçalves Pereira" userId="ec5947ca-8bf3-45ed-bfa6-3d31e954aa0d" providerId="ADAL" clId="{E572DA55-8800-5369-A864-4B09001BCD8B}" dt="2026-06-13T13:42:13.471" v="86" actId="20577"/>
      <pc:docMkLst>
        <pc:docMk/>
      </pc:docMkLst>
      <pc:sldChg chg="modSp mod modNotesTx">
        <pc:chgData name="Diogo Filipe Gonçalves Pereira" userId="ec5947ca-8bf3-45ed-bfa6-3d31e954aa0d" providerId="ADAL" clId="{E572DA55-8800-5369-A864-4B09001BCD8B}" dt="2026-06-13T13:42:13.471" v="86" actId="20577"/>
        <pc:sldMkLst>
          <pc:docMk/>
          <pc:sldMk cId="0" sldId="256"/>
        </pc:sldMkLst>
        <pc:spChg chg="mod">
          <ac:chgData name="Diogo Filipe Gonçalves Pereira" userId="ec5947ca-8bf3-45ed-bfa6-3d31e954aa0d" providerId="ADAL" clId="{E572DA55-8800-5369-A864-4B09001BCD8B}" dt="2026-06-13T13:42:13.471" v="86" actId="20577"/>
          <ac:spMkLst>
            <pc:docMk/>
            <pc:sldMk cId="0" sldId="256"/>
            <ac:spMk id="9" creationId="{00000000-0000-0000-0000-000000000000}"/>
          </ac:spMkLst>
        </pc:spChg>
      </pc:sldChg>
      <pc:sldChg chg="modNotesTx">
        <pc:chgData name="Diogo Filipe Gonçalves Pereira" userId="ec5947ca-8bf3-45ed-bfa6-3d31e954aa0d" providerId="ADAL" clId="{E572DA55-8800-5369-A864-4B09001BCD8B}" dt="2026-06-11T09:54:41.127" v="5" actId="20577"/>
        <pc:sldMkLst>
          <pc:docMk/>
          <pc:sldMk cId="0" sldId="257"/>
        </pc:sldMkLst>
      </pc:sldChg>
      <pc:sldChg chg="modNotesTx">
        <pc:chgData name="Diogo Filipe Gonçalves Pereira" userId="ec5947ca-8bf3-45ed-bfa6-3d31e954aa0d" providerId="ADAL" clId="{E572DA55-8800-5369-A864-4B09001BCD8B}" dt="2026-06-11T09:57:03.251" v="8" actId="20577"/>
        <pc:sldMkLst>
          <pc:docMk/>
          <pc:sldMk cId="0" sldId="258"/>
        </pc:sldMkLst>
      </pc:sldChg>
      <pc:sldChg chg="modNotesTx">
        <pc:chgData name="Diogo Filipe Gonçalves Pereira" userId="ec5947ca-8bf3-45ed-bfa6-3d31e954aa0d" providerId="ADAL" clId="{E572DA55-8800-5369-A864-4B09001BCD8B}" dt="2026-06-11T09:59:34.453" v="40" actId="20577"/>
        <pc:sldMkLst>
          <pc:docMk/>
          <pc:sldMk cId="0" sldId="259"/>
        </pc:sldMkLst>
      </pc:sldChg>
      <pc:sldChg chg="modNotesTx">
        <pc:chgData name="Diogo Filipe Gonçalves Pereira" userId="ec5947ca-8bf3-45ed-bfa6-3d31e954aa0d" providerId="ADAL" clId="{E572DA55-8800-5369-A864-4B09001BCD8B}" dt="2026-06-11T09:59:38.468" v="48" actId="20577"/>
        <pc:sldMkLst>
          <pc:docMk/>
          <pc:sldMk cId="0" sldId="260"/>
        </pc:sldMkLst>
      </pc:sldChg>
      <pc:sldChg chg="modNotesTx">
        <pc:chgData name="Diogo Filipe Gonçalves Pereira" userId="ec5947ca-8bf3-45ed-bfa6-3d31e954aa0d" providerId="ADAL" clId="{E572DA55-8800-5369-A864-4B09001BCD8B}" dt="2026-06-11T09:58:32.400" v="18" actId="20577"/>
        <pc:sldMkLst>
          <pc:docMk/>
          <pc:sldMk cId="0" sldId="261"/>
        </pc:sldMkLst>
      </pc:sldChg>
      <pc:sldChg chg="modNotesTx">
        <pc:chgData name="Diogo Filipe Gonçalves Pereira" userId="ec5947ca-8bf3-45ed-bfa6-3d31e954aa0d" providerId="ADAL" clId="{E572DA55-8800-5369-A864-4B09001BCD8B}" dt="2026-06-11T09:58:36.812" v="27" actId="20577"/>
        <pc:sldMkLst>
          <pc:docMk/>
          <pc:sldMk cId="0" sldId="262"/>
        </pc:sldMkLst>
      </pc:sldChg>
      <pc:sldChg chg="modNotesTx">
        <pc:chgData name="Diogo Filipe Gonçalves Pereira" userId="ec5947ca-8bf3-45ed-bfa6-3d31e954aa0d" providerId="ADAL" clId="{E572DA55-8800-5369-A864-4B09001BCD8B}" dt="2026-06-11T10:00:16.315" v="54" actId="20577"/>
        <pc:sldMkLst>
          <pc:docMk/>
          <pc:sldMk cId="0" sldId="263"/>
        </pc:sldMkLst>
      </pc:sldChg>
      <pc:sldChg chg="modNotesTx">
        <pc:chgData name="Diogo Filipe Gonçalves Pereira" userId="ec5947ca-8bf3-45ed-bfa6-3d31e954aa0d" providerId="ADAL" clId="{E572DA55-8800-5369-A864-4B09001BCD8B}" dt="2026-06-12T18:44:41.785" v="84" actId="20577"/>
        <pc:sldMkLst>
          <pc:docMk/>
          <pc:sldMk cId="0" sldId="264"/>
        </pc:sldMkLst>
      </pc:sldChg>
      <pc:sldChg chg="modNotesTx">
        <pc:chgData name="Diogo Filipe Gonçalves Pereira" userId="ec5947ca-8bf3-45ed-bfa6-3d31e954aa0d" providerId="ADAL" clId="{E572DA55-8800-5369-A864-4B09001BCD8B}" dt="2026-06-11T10:00:46.317" v="64" actId="20577"/>
        <pc:sldMkLst>
          <pc:docMk/>
          <pc:sldMk cId="0" sldId="265"/>
        </pc:sldMkLst>
      </pc:sldChg>
      <pc:sldChg chg="modNotesTx">
        <pc:chgData name="Diogo Filipe Gonçalves Pereira" userId="ec5947ca-8bf3-45ed-bfa6-3d31e954aa0d" providerId="ADAL" clId="{E572DA55-8800-5369-A864-4B09001BCD8B}" dt="2026-06-11T10:00:49.102" v="68" actId="20577"/>
        <pc:sldMkLst>
          <pc:docMk/>
          <pc:sldMk cId="0" sldId="266"/>
        </pc:sldMkLst>
      </pc:sldChg>
      <pc:sldChg chg="modNotesTx">
        <pc:chgData name="Diogo Filipe Gonçalves Pereira" userId="ec5947ca-8bf3-45ed-bfa6-3d31e954aa0d" providerId="ADAL" clId="{E572DA55-8800-5369-A864-4B09001BCD8B}" dt="2026-06-11T10:00:52.075" v="73" actId="20577"/>
        <pc:sldMkLst>
          <pc:docMk/>
          <pc:sldMk cId="0" sldId="267"/>
        </pc:sldMkLst>
      </pc:sldChg>
      <pc:sldChg chg="modNotesTx">
        <pc:chgData name="Diogo Filipe Gonçalves Pereira" userId="ec5947ca-8bf3-45ed-bfa6-3d31e954aa0d" providerId="ADAL" clId="{E572DA55-8800-5369-A864-4B09001BCD8B}" dt="2026-06-11T10:00:54.653" v="78" actId="20577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123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Diogo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Marinela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Marinela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Antonio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Antonio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Kaua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Kaua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Diogo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Diogo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828800"/>
            <a:ext cx="6400800" cy="6400800"/>
          </a:xfrm>
          <a:prstGeom prst="ellipse">
            <a:avLst/>
          </a:prstGeom>
          <a:solidFill>
            <a:srgbClr val="7F77DD">
              <a:alpha val="7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9326880" y="2011680"/>
            <a:ext cx="4114800" cy="4114800"/>
          </a:xfrm>
          <a:prstGeom prst="ellipse">
            <a:avLst/>
          </a:prstGeom>
          <a:solidFill>
            <a:srgbClr val="B8B3EC">
              <a:alpha val="45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B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PIAGET    ·    ENGENHARIA DE SOFTWARE I    ·    JUNHO 2026</a:t>
            </a:r>
            <a:endParaRPr lang="en-US" sz="1200" dirty="0"/>
          </a:p>
        </p:txBody>
      </p:sp>
      <p:pic>
        <p:nvPicPr>
          <p:cNvPr id="5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554480"/>
            <a:ext cx="1554480" cy="1554480"/>
          </a:xfrm>
          <a:prstGeom prst="ellipse">
            <a:avLst/>
          </a:prstGeom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40080" y="146304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SkoolBay</a:t>
            </a:r>
            <a:endParaRPr lang="en-US" sz="5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 de Skills</a:t>
            </a:r>
            <a:endParaRPr lang="en-US" sz="5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 Estudantes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António Rafael Marques Simões — 2022115742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Diogo Filipe Gonçalves Pereira — 2024115723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Kauã Henrique Santos Pina — 2024126856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Alexandre Martins Afonso — 2022111829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Marinela Suely João Bettencourt — 2024117541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Lourenço e Lozano Alves de Almeida Costa — 2024107218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5486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Toacy Oliveira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B8B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Apresentação: 17 de Junho · 2025/2026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182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B8B3EC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8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SkoolBay  ·  Engenharia de Software I  ·  Instituto Piaget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estudantes enfrentam desafios reais ao procurar apoio académico dentro da sua comunidade universitária.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490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3434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2D2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“Preciso de explicações de Cálculo. A quem pergunto? Em quem confio?”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52160" y="1600200"/>
            <a:ext cx="5669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Shape 8"/>
          <p:cNvSpPr/>
          <p:nvPr/>
        </p:nvSpPr>
        <p:spPr>
          <a:xfrm>
            <a:off x="5852160" y="1600200"/>
            <a:ext cx="82296" cy="141732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6035040" y="17099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58000" y="17190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Apoio difícil de encontrar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0" y="21031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Explicações, tradução ou design específicos são difíceis de encontrar dentro da própria comunidade académica.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852160" y="3200400"/>
            <a:ext cx="5669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5852160" y="3200400"/>
            <a:ext cx="82296" cy="141732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/>
          <p:nvPr/>
        </p:nvSpPr>
        <p:spPr>
          <a:xfrm>
            <a:off x="6035040" y="33101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858000" y="33192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ambiente verificado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58000" y="37033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 espaço seguro e verificado para trocas de serviços entre estudantes universitários.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852160" y="4800600"/>
            <a:ext cx="5669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8"/>
          <p:cNvSpPr/>
          <p:nvPr/>
        </p:nvSpPr>
        <p:spPr>
          <a:xfrm>
            <a:off x="5852160" y="4800600"/>
            <a:ext cx="82296" cy="141732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Text 19"/>
          <p:cNvSpPr/>
          <p:nvPr/>
        </p:nvSpPr>
        <p:spPr>
          <a:xfrm>
            <a:off x="6035040" y="49103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858000" y="49194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Marketplaces genéricos falham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858000" y="53035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generalistas não oferecem a confiança necessária para o contexto universitário e académico.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Solução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182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B8B3EC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8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SkoolBay  ·  Engenharia de Software I  ·  Instituto Piaget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SkoolBay é uma plataforma Peer-to-Peer exclusiva para o ecossistema académico, ligando estudantes que precisam de apoio a colegas que podem ajudar.</a:t>
            </a:r>
            <a:endParaRPr lang="en-US" sz="1700" dirty="0"/>
          </a:p>
        </p:txBody>
      </p:sp>
      <p:pic>
        <p:nvPicPr>
          <p:cNvPr id="7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931920"/>
            <a:ext cx="1737360" cy="1737360"/>
          </a:xfrm>
          <a:prstGeom prst="ellipse">
            <a:avLst/>
          </a:prstGeom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5852160" y="1600200"/>
            <a:ext cx="5669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Shape 6"/>
          <p:cNvSpPr/>
          <p:nvPr/>
        </p:nvSpPr>
        <p:spPr>
          <a:xfrm>
            <a:off x="6080760" y="1984248"/>
            <a:ext cx="640080" cy="64008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213969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0" y="17647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 P2P académica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949440" y="21488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exclusivo de estudantes universitários para trocas de serviços, seguro e verificado.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852160" y="3200400"/>
            <a:ext cx="5669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Shape 10"/>
          <p:cNvSpPr/>
          <p:nvPr/>
        </p:nvSpPr>
        <p:spPr>
          <a:xfrm>
            <a:off x="6080760" y="3584448"/>
            <a:ext cx="640080" cy="64008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73989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33649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Autenticação institucional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949440" y="37490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obrigatório por e-mail institucional — só membros da comunidade académica participam.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852160" y="4800600"/>
            <a:ext cx="5669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Shape 14"/>
          <p:cNvSpPr/>
          <p:nvPr/>
        </p:nvSpPr>
        <p:spPr>
          <a:xfrm>
            <a:off x="6080760" y="5184648"/>
            <a:ext cx="640080" cy="64008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5340096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9440" y="49651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Pedidos e reputação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949440" y="53492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de serviços, gestão de pedidos com estados e avaliações para construir confiança.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&amp; Stack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182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B8B3EC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8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SkoolBay  ·  Engenharia de Software I  ·  Instituto Piaget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7F77DD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 / Browser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App Router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Tailwind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2514600"/>
            <a:ext cx="411480" cy="0"/>
          </a:xfrm>
          <a:prstGeom prst="line">
            <a:avLst/>
          </a:prstGeom>
          <a:noFill/>
          <a:ln w="31750">
            <a:solidFill>
              <a:srgbClr val="2D2A6E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D2A6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337560" y="19933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Camada Aplicação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37560" y="243230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v5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· bcrypt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0680" y="2514600"/>
            <a:ext cx="411480" cy="0"/>
          </a:xfrm>
          <a:prstGeom prst="line">
            <a:avLst/>
          </a:prstGeom>
          <a:noFill/>
          <a:ln w="31750">
            <a:solidFill>
              <a:srgbClr val="2D2A6E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5852160" y="18288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7F77DD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5943600" y="19933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0" y="243230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7406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8B3E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7328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71600" y="3639312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— Docker &amp; Docker Compose: ambientes de dev e produção consistentes, executável em localhost.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412480" y="1691640"/>
            <a:ext cx="3108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8"/>
          <p:cNvSpPr/>
          <p:nvPr/>
        </p:nvSpPr>
        <p:spPr>
          <a:xfrm>
            <a:off x="8595360" y="1938528"/>
            <a:ext cx="438912" cy="438912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944" y="2039112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189720" y="18105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9189720" y="211226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TypeScript, Tailwind CSS, shadcn/ui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412480" y="2715768"/>
            <a:ext cx="3108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Shape 22"/>
          <p:cNvSpPr/>
          <p:nvPr/>
        </p:nvSpPr>
        <p:spPr>
          <a:xfrm>
            <a:off x="8595360" y="2962656"/>
            <a:ext cx="438912" cy="438912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3063240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89720" y="2834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9189720" y="31363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+ PostgreSQL 16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412480" y="3739896"/>
            <a:ext cx="3108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Shape 26"/>
          <p:cNvSpPr/>
          <p:nvPr/>
        </p:nvSpPr>
        <p:spPr>
          <a:xfrm>
            <a:off x="8595360" y="3986784"/>
            <a:ext cx="438912" cy="438912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944" y="4087368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89720" y="38587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Segurança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9189720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v5 · bcrypt (hashing)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8412480" y="4764024"/>
            <a:ext cx="3108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Shape 30"/>
          <p:cNvSpPr/>
          <p:nvPr/>
        </p:nvSpPr>
        <p:spPr>
          <a:xfrm>
            <a:off x="8595360" y="5010912"/>
            <a:ext cx="438912" cy="438912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5111496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189720" y="488289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9189720" y="51846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GitHub Actions CI · Vitest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2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7F77DD">
              <a:alpha val="55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B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Integração com LLM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94183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459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8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apoiadas por um LLM, integradas de forma transparente — o utilizador beneficia sem sair do fluxo normal da aplicação.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2487168"/>
            <a:ext cx="4846320" cy="457200"/>
          </a:xfrm>
          <a:prstGeom prst="roundRect">
            <a:avLst>
              <a:gd name="adj" fmla="val 50000"/>
            </a:avLst>
          </a:prstGeom>
          <a:solidFill>
            <a:srgbClr val="B8B3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59689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4871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API  ·  llama-3.3-70b-versatile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10896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Shape 8"/>
          <p:cNvSpPr/>
          <p:nvPr/>
        </p:nvSpPr>
        <p:spPr>
          <a:xfrm>
            <a:off x="960120" y="3364992"/>
            <a:ext cx="777240" cy="777240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4787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0240" y="34564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Pesquisa semântica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005840" y="42245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listagem de serviços, interpreta a intenção do utilizador em vez de fazer apenas match de palavras-chave.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72200" y="310896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Shape 12"/>
          <p:cNvSpPr/>
          <p:nvPr/>
        </p:nvSpPr>
        <p:spPr>
          <a:xfrm>
            <a:off x="6492240" y="3364992"/>
            <a:ext cx="777240" cy="777240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54787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34564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Sugestão de preços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6537960" y="42245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formulário de criação de serviço, sugere um preço justo com base no título e na descrição.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8B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pós-MVP: matching semântico, geração de descrições, resumo de reviews, chatbot de apoio (RAG) e moderação inteligente de conteúdo.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MODELAÇÃO UML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de Uso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182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B8B3EC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8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SkoolBay  ·  Engenharia de Software I  ·  Instituto Piaget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647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atores principais · 24 casos de uso · 6 áreas funcionais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7F77DD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Visitante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290779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vê serviços e perfis públicos. Pode registar-se e fazer login.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23774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7F77DD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457200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Estudante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72000" y="290779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 contrata serviços, gere pedidos, avalia prestadores e denuncia conteúdo.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46720" y="237744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7F77DD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/>
          <p:nvPr/>
        </p:nvSpPr>
        <p:spPr>
          <a:xfrm>
            <a:off x="82753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Administrador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75320" y="290779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 a plataforma: vê denúncias, desativa serviços e suspende utilizadores.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406908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Shape 15"/>
          <p:cNvSpPr/>
          <p:nvPr/>
        </p:nvSpPr>
        <p:spPr>
          <a:xfrm>
            <a:off x="640080" y="4069080"/>
            <a:ext cx="73152" cy="86868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841248" y="4160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Autenticação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41248" y="4453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Registar · Verificar e-mail · Login · Logout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343400" y="406908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Shape 19"/>
          <p:cNvSpPr/>
          <p:nvPr/>
        </p:nvSpPr>
        <p:spPr>
          <a:xfrm>
            <a:off x="4343400" y="4069080"/>
            <a:ext cx="73152" cy="86868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20"/>
          <p:cNvSpPr/>
          <p:nvPr/>
        </p:nvSpPr>
        <p:spPr>
          <a:xfrm>
            <a:off x="4544568" y="4160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44568" y="4453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perfil público · Editar perfil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046720" y="406908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Shape 23"/>
          <p:cNvSpPr/>
          <p:nvPr/>
        </p:nvSpPr>
        <p:spPr>
          <a:xfrm>
            <a:off x="8046720" y="4069080"/>
            <a:ext cx="73152" cy="86868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7" name="Text 24"/>
          <p:cNvSpPr/>
          <p:nvPr/>
        </p:nvSpPr>
        <p:spPr>
          <a:xfrm>
            <a:off x="8247888" y="4160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Serviços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47888" y="4453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 · Ver detalhe · Publicar · Editar · Remover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0080" y="50749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Shape 27"/>
          <p:cNvSpPr/>
          <p:nvPr/>
        </p:nvSpPr>
        <p:spPr>
          <a:xfrm>
            <a:off x="640080" y="5074920"/>
            <a:ext cx="73152" cy="86868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1" name="Text 28"/>
          <p:cNvSpPr/>
          <p:nvPr/>
        </p:nvSpPr>
        <p:spPr>
          <a:xfrm>
            <a:off x="841248" y="5166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Pedidos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41248" y="54589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· Aceitar · Recusar · Concluir · Cancelar · Ver enviados/recebidos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343400" y="50749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Shape 31"/>
          <p:cNvSpPr/>
          <p:nvPr/>
        </p:nvSpPr>
        <p:spPr>
          <a:xfrm>
            <a:off x="4343400" y="5074920"/>
            <a:ext cx="73152" cy="86868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5" name="Text 32"/>
          <p:cNvSpPr/>
          <p:nvPr/>
        </p:nvSpPr>
        <p:spPr>
          <a:xfrm>
            <a:off x="4544568" y="5166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Avaliações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544568" y="54589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prestador · Ver avaliações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046720" y="507492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8" name="Shape 35"/>
          <p:cNvSpPr/>
          <p:nvPr/>
        </p:nvSpPr>
        <p:spPr>
          <a:xfrm>
            <a:off x="8046720" y="5074920"/>
            <a:ext cx="73152" cy="86868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9" name="Text 36"/>
          <p:cNvSpPr/>
          <p:nvPr/>
        </p:nvSpPr>
        <p:spPr>
          <a:xfrm>
            <a:off x="8247888" y="5166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Moderação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8247888" y="54589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Denunciar · Ver denúncias · Desativar · Suspender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MODELAÇÃO UML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 Classes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182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B8B3EC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8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SkoolBay  ·  Engenharia de Software I  ·  Instituto Piaget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520440" cy="365760"/>
          </a:xfrm>
          <a:prstGeom prst="rect">
            <a:avLst/>
          </a:prstGeom>
          <a:solidFill>
            <a:srgbClr val="2D2A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822960" y="18196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registado. Papéis de Prestador e/ou Cliente. rating calculado das reviews.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520440" cy="365760"/>
          </a:xfrm>
          <a:prstGeom prst="rect">
            <a:avLst/>
          </a:prstGeom>
          <a:solidFill>
            <a:srgbClr val="2D2A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4526280" y="18196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1945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publicado por um Prestador. Soft delete (isActive). Pertence a uma Category.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20440" cy="365760"/>
          </a:xfrm>
          <a:prstGeom prst="rect">
            <a:avLst/>
          </a:prstGeom>
          <a:solidFill>
            <a:srgbClr val="2D2A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8229600" y="18196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ServiceRequest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1945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um Cliente. Máquina de estados (RequestStatus).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3520440" cy="365760"/>
          </a:xfrm>
          <a:prstGeom prst="rect">
            <a:avLst/>
          </a:prstGeom>
          <a:solidFill>
            <a:srgbClr val="2D2A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822960" y="30083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1–5 após pedido concluído. Máx. 1 por pedido.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2971800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4343400" y="2971800"/>
            <a:ext cx="3520440" cy="365760"/>
          </a:xfrm>
          <a:prstGeom prst="rect">
            <a:avLst/>
          </a:prstGeom>
          <a:solidFill>
            <a:srgbClr val="2D2A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4526280" y="30083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3383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pré-definidas (Tecnologia, Idiomas, Design...).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2971800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7" name="Shape 25"/>
          <p:cNvSpPr/>
          <p:nvPr/>
        </p:nvSpPr>
        <p:spPr>
          <a:xfrm>
            <a:off x="8046720" y="2971800"/>
            <a:ext cx="3520440" cy="365760"/>
          </a:xfrm>
          <a:prstGeom prst="rect">
            <a:avLst/>
          </a:prstGeom>
          <a:solidFill>
            <a:srgbClr val="2D2A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8229600" y="30083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3383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Denúncia contra serviço ou utilizador, gerida pelo Admin.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Máquina de estados — ServiceRequest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475488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640080" y="4754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468880" y="5074920"/>
            <a:ext cx="914400" cy="0"/>
          </a:xfrm>
          <a:prstGeom prst="line">
            <a:avLst/>
          </a:prstGeom>
          <a:noFill/>
          <a:ln w="31750">
            <a:solidFill>
              <a:srgbClr val="2D2A6E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34" name="Shape 32"/>
          <p:cNvSpPr/>
          <p:nvPr/>
        </p:nvSpPr>
        <p:spPr>
          <a:xfrm>
            <a:off x="3383280" y="475488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5" name="Text 33"/>
          <p:cNvSpPr/>
          <p:nvPr/>
        </p:nvSpPr>
        <p:spPr>
          <a:xfrm>
            <a:off x="3383280" y="4754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212080" y="5074920"/>
            <a:ext cx="914400" cy="0"/>
          </a:xfrm>
          <a:prstGeom prst="line">
            <a:avLst/>
          </a:prstGeom>
          <a:noFill/>
          <a:ln w="31750">
            <a:solidFill>
              <a:srgbClr val="2D2A6E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37" name="Shape 35"/>
          <p:cNvSpPr/>
          <p:nvPr/>
        </p:nvSpPr>
        <p:spPr>
          <a:xfrm>
            <a:off x="6126480" y="475488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8" name="Text 36"/>
          <p:cNvSpPr/>
          <p:nvPr/>
        </p:nvSpPr>
        <p:spPr>
          <a:xfrm>
            <a:off x="6126480" y="4754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571500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8B3E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0" name="Text 38"/>
          <p:cNvSpPr/>
          <p:nvPr/>
        </p:nvSpPr>
        <p:spPr>
          <a:xfrm>
            <a:off x="640080" y="5715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383280" y="571500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8B3E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40"/>
          <p:cNvSpPr/>
          <p:nvPr/>
        </p:nvSpPr>
        <p:spPr>
          <a:xfrm>
            <a:off x="3383280" y="5715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229600" y="4251960"/>
            <a:ext cx="3291840" cy="2011680"/>
          </a:xfrm>
          <a:prstGeom prst="roundRect">
            <a:avLst>
              <a:gd name="adj" fmla="val 2727"/>
            </a:avLst>
          </a:prstGeom>
          <a:solidFill>
            <a:srgbClr val="F4F3FB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4" name="Text 42"/>
          <p:cNvSpPr/>
          <p:nvPr/>
        </p:nvSpPr>
        <p:spPr>
          <a:xfrm>
            <a:off x="8458200" y="4389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Relações-chave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458200" y="4754880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A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1 → 0..* Service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A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1 → 0..* ServiceRequest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A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0..* → 1 Category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A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ServiceRequest 1 → 0..1 Review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A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1 → 0..* Report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 Scrum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182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B8B3EC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8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SkoolBay  ·  Engenharia de Software I  ·  Instituto Piaget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iterativos com entregas incrementais e qualidade contínua através de práticas DevOps modernas, rastreadas no GitHub Projects.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207008" cy="1371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4069080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(MoSCoW)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3291840"/>
            <a:ext cx="1207008" cy="1371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1938528" y="3429000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984248" y="4069080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semanas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36976" y="3291840"/>
            <a:ext cx="1207008" cy="1371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3236976" y="3429000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82696" y="4069080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no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35424" y="3291840"/>
            <a:ext cx="1207008" cy="1371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535424" y="3429000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81144" y="4069080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(0–7)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600200"/>
            <a:ext cx="5669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6080760" y="1965960"/>
            <a:ext cx="621792" cy="621792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112264"/>
            <a:ext cx="329184" cy="32918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903720" y="17465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 priorizado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903720" y="211226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User Stories segundo MoSCoW (Must, Should, Could, Won't).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852160" y="3154680"/>
            <a:ext cx="5669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2"/>
          <p:cNvSpPr/>
          <p:nvPr/>
        </p:nvSpPr>
        <p:spPr>
          <a:xfrm>
            <a:off x="6080760" y="3520440"/>
            <a:ext cx="621792" cy="621792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3666744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03720" y="33009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Sprints incrementais</a:t>
            </a:r>
            <a:endParaRPr lang="en-US" sz="1550" dirty="0"/>
          </a:p>
        </p:txBody>
      </p:sp>
      <p:sp>
        <p:nvSpPr>
          <p:cNvPr id="28" name="Text 24"/>
          <p:cNvSpPr/>
          <p:nvPr/>
        </p:nvSpPr>
        <p:spPr>
          <a:xfrm>
            <a:off x="6903720" y="366674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 com retrospetivas e refinamento contínuo do backlog.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852160" y="4709160"/>
            <a:ext cx="5669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0" name="Shape 26"/>
          <p:cNvSpPr/>
          <p:nvPr/>
        </p:nvSpPr>
        <p:spPr>
          <a:xfrm>
            <a:off x="6080760" y="5074920"/>
            <a:ext cx="621792" cy="621792"/>
          </a:xfrm>
          <a:prstGeom prst="ellipse">
            <a:avLst/>
          </a:prstGeom>
          <a:solidFill>
            <a:srgbClr val="2D2A6E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5221224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03720" y="48554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Git rigoroso</a:t>
            </a:r>
            <a:endParaRPr lang="en-US" sz="1550" dirty="0"/>
          </a:p>
        </p:txBody>
      </p:sp>
      <p:sp>
        <p:nvSpPr>
          <p:cNvPr id="33" name="Text 28"/>
          <p:cNvSpPr/>
          <p:nvPr/>
        </p:nvSpPr>
        <p:spPr>
          <a:xfrm>
            <a:off x="6903720" y="522122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protegidas, Pull Requests obrigatórios e CI/CD via GitHub Actions.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Aplicação em Funcionamento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182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B8B3EC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8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SkoolBay  ·  Engenharia de Software I  ·  Instituto Piaget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completo de um estudante no SkoolBay, suportado por dados realistas pré-carregados via seed.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6060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868680" y="2697480"/>
            <a:ext cx="502920" cy="502920"/>
          </a:xfrm>
          <a:prstGeom prst="ellipse">
            <a:avLst/>
          </a:prstGeom>
          <a:solidFill>
            <a:srgbClr val="2D2A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77440" y="2697480"/>
            <a:ext cx="621792" cy="621792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2843784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Pesquisar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38862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serviços por categoria, texto livre ou pesquisa semântica (LLM).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82696" y="3721608"/>
            <a:ext cx="201168" cy="0"/>
          </a:xfrm>
          <a:prstGeom prst="line">
            <a:avLst/>
          </a:prstGeom>
          <a:noFill/>
          <a:ln w="31750">
            <a:solidFill>
              <a:srgbClr val="7F77DD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2"/>
          <p:cNvSpPr/>
          <p:nvPr/>
        </p:nvSpPr>
        <p:spPr>
          <a:xfrm>
            <a:off x="3520440" y="2468880"/>
            <a:ext cx="26060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3749040" y="2697480"/>
            <a:ext cx="502920" cy="502920"/>
          </a:xfrm>
          <a:prstGeom prst="ellipse">
            <a:avLst/>
          </a:prstGeom>
          <a:solidFill>
            <a:srgbClr val="2D2A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4"/>
          <p:cNvSpPr/>
          <p:nvPr/>
        </p:nvSpPr>
        <p:spPr>
          <a:xfrm>
            <a:off x="37490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257800" y="2697480"/>
            <a:ext cx="621792" cy="621792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2843784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4904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Pedir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749040" y="38862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um pedido ao prestador com mensagem. Estado inicial: PENDING.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163056" y="3721608"/>
            <a:ext cx="201168" cy="0"/>
          </a:xfrm>
          <a:prstGeom prst="line">
            <a:avLst/>
          </a:prstGeom>
          <a:noFill/>
          <a:ln w="31750">
            <a:solidFill>
              <a:srgbClr val="7F77DD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3" name="Shape 19"/>
          <p:cNvSpPr/>
          <p:nvPr/>
        </p:nvSpPr>
        <p:spPr>
          <a:xfrm>
            <a:off x="6400800" y="2468880"/>
            <a:ext cx="26060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Shape 20"/>
          <p:cNvSpPr/>
          <p:nvPr/>
        </p:nvSpPr>
        <p:spPr>
          <a:xfrm>
            <a:off x="6629400" y="2697480"/>
            <a:ext cx="502920" cy="502920"/>
          </a:xfrm>
          <a:prstGeom prst="ellipse">
            <a:avLst/>
          </a:prstGeom>
          <a:solidFill>
            <a:srgbClr val="2D2A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21"/>
          <p:cNvSpPr/>
          <p:nvPr/>
        </p:nvSpPr>
        <p:spPr>
          <a:xfrm>
            <a:off x="66294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8138160" y="2697480"/>
            <a:ext cx="621792" cy="621792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2843784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2940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Gerir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6629400" y="38862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dashboard: aceitar, recusar, concluir ou cancelar pedidos, com histórico.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9043416" y="3721608"/>
            <a:ext cx="201168" cy="0"/>
          </a:xfrm>
          <a:prstGeom prst="line">
            <a:avLst/>
          </a:prstGeom>
          <a:noFill/>
          <a:ln w="31750">
            <a:solidFill>
              <a:srgbClr val="7F77DD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31" name="Shape 26"/>
          <p:cNvSpPr/>
          <p:nvPr/>
        </p:nvSpPr>
        <p:spPr>
          <a:xfrm>
            <a:off x="9281160" y="2468880"/>
            <a:ext cx="26060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2" name="Shape 27"/>
          <p:cNvSpPr/>
          <p:nvPr/>
        </p:nvSpPr>
        <p:spPr>
          <a:xfrm>
            <a:off x="9509760" y="2697480"/>
            <a:ext cx="502920" cy="502920"/>
          </a:xfrm>
          <a:prstGeom prst="ellipse">
            <a:avLst/>
          </a:prstGeom>
          <a:solidFill>
            <a:srgbClr val="2D2A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3" name="Text 28"/>
          <p:cNvSpPr/>
          <p:nvPr/>
        </p:nvSpPr>
        <p:spPr>
          <a:xfrm>
            <a:off x="95097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11018520" y="2697480"/>
            <a:ext cx="621792" cy="621792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4824" y="2843784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50976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Avaliar</a:t>
            </a:r>
            <a:endParaRPr lang="en-US" sz="1800" dirty="0"/>
          </a:p>
        </p:txBody>
      </p:sp>
      <p:sp>
        <p:nvSpPr>
          <p:cNvPr id="37" name="Text 31"/>
          <p:cNvSpPr/>
          <p:nvPr/>
        </p:nvSpPr>
        <p:spPr>
          <a:xfrm>
            <a:off x="9509760" y="38862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conclusão, avalia o prestador (1–5 estrelas) e alimenta a reputação.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640080" y="53035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B8B3E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504688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417320" y="53035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seed: ~11 utilizadores e ~55 serviços com pedidos e reviews</a:t>
            </a:r>
            <a:endParaRPr lang="en-US" sz="125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5504688"/>
            <a:ext cx="365760" cy="3657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360920" y="53035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Ambiente: Docker Compose · localhost:3000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&amp; Validação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182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B8B3EC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8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SkoolBay  ·  Engenharia de Software I  ·  Instituto Piaget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é garantida em várias camadas, da validação de dados aos testes automatizados, alinhada com o Definition of Done de cada sprint.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960120" y="2898648"/>
            <a:ext cx="658368" cy="658368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05409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971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Unitários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36576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a cobrir a lógica de negócio: validações, server actions e regras das máquinas de estado.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60604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0"/>
          <p:cNvSpPr/>
          <p:nvPr/>
        </p:nvSpPr>
        <p:spPr>
          <a:xfrm>
            <a:off x="6492240" y="2898648"/>
            <a:ext cx="658368" cy="658368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305409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971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de Aceitação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37960" y="36576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executadas como testes de aceitação, validando critérios de aceitação ponta a ponta.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" y="461772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Shape 14"/>
          <p:cNvSpPr/>
          <p:nvPr/>
        </p:nvSpPr>
        <p:spPr>
          <a:xfrm>
            <a:off x="960120" y="4910328"/>
            <a:ext cx="658368" cy="658368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506577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4983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Tipagem &amp; Validação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005840" y="56692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(tipagem estática) + Zod (schemas) reduzem erros em runtime antes de chegarem a produção.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461772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3" name="Shape 18"/>
          <p:cNvSpPr/>
          <p:nvPr/>
        </p:nvSpPr>
        <p:spPr>
          <a:xfrm>
            <a:off x="6492240" y="4910328"/>
            <a:ext cx="658368" cy="658368"/>
          </a:xfrm>
          <a:prstGeom prst="ellipse">
            <a:avLst/>
          </a:prstGeom>
          <a:solidFill>
            <a:srgbClr val="F4F3F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5065776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60920" y="4983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Automatizado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6537960" y="56692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corre lint, typecheck e testes em cada Pull Request antes do merge.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RETROSPETIVA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Lições Aprendidas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182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B8B3EC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8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SkoolBay  ·  Engenharia de Software I  ·  Instituto Piaget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longo do projeto, a equipa adquiriu competências em desenvolvimento, processos ágeis e gestão de projetos, fundamentais para desafios futuros.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2160" y="1600200"/>
            <a:ext cx="5669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5852160" y="1600200"/>
            <a:ext cx="82296" cy="141732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6035040" y="17099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0" y="172821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11226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rigorosa com Zod e os benefícios da tipagem estática com TypeScript, reduzindo erros em runtime.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5669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5852160" y="3200400"/>
            <a:ext cx="82296" cy="141732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6035040" y="33101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332841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371246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do Definition of Done para garantir qualidade consistente em cada sprint, com critérios claros de aceitação.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52160" y="4800600"/>
            <a:ext cx="5669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5852160" y="4800600"/>
            <a:ext cx="82296" cy="1417320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6035040" y="49103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492861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531266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 de riscos como scope creep através de backlog bem definido e distribuição equitativa de tarefas.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Equipa &amp; Atribuição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49840" y="1828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B8B3EC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8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SkoolBay  ·  Engenharia de Software I  ·  Instituto Piaget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520440" cy="109728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868680" y="19842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496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Diogo Pereira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8437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&amp; Dev Lead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1729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das sprints, facilitação das cerimónias ágeis e liderança técnica.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78308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520440" cy="109728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572000" y="19842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2496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António Simões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28437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Backend de Serviços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1729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classes e estados, backend de serviços (CRUD), login, navegação e testes de aceitação.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8046720" y="1783080"/>
            <a:ext cx="3520440" cy="109728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8275320" y="19842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75320" y="2496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Kauã Pina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75320" y="28437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Modelação UML &amp; Pedidos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5320" y="31729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casos de uso, painéis de pedidos, pesquisa, landing page e dashboard.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640080" y="4206240"/>
            <a:ext cx="3520440" cy="109728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868680" y="44074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68680" y="4919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Leonardo Afonso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52669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Autenticação, Testes &amp; Documentação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55961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validação institucional, listagem de serviços, perfis e documentação final.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43400" y="420624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1" name="Shape 29"/>
          <p:cNvSpPr/>
          <p:nvPr/>
        </p:nvSpPr>
        <p:spPr>
          <a:xfrm>
            <a:off x="4343400" y="4206240"/>
            <a:ext cx="3520440" cy="109728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4572000" y="44074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572000" y="4919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Marinela Bettencourt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0" y="52669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UX, Frontend &amp; Testes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55961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Protótipos UX, perfil, categorias, dashboard, painel de moderação e testes unitários.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4206240"/>
            <a:ext cx="3520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1F4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7" name="Shape 35"/>
          <p:cNvSpPr/>
          <p:nvPr/>
        </p:nvSpPr>
        <p:spPr>
          <a:xfrm>
            <a:off x="8046720" y="4206240"/>
            <a:ext cx="3520440" cy="109728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8" name="Text 36"/>
          <p:cNvSpPr/>
          <p:nvPr/>
        </p:nvSpPr>
        <p:spPr>
          <a:xfrm>
            <a:off x="8275320" y="44074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275320" y="4919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Miguel Costa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75320" y="52669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Infraestrutura, Backlog &amp; Pedidos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75320" y="55961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NextAuth, edição/remoção de serviços, gestão de pedidos e moderação de conteúdo.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2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1371600"/>
            <a:ext cx="7315200" cy="7315200"/>
          </a:xfrm>
          <a:prstGeom prst="ellipse">
            <a:avLst/>
          </a:prstGeom>
          <a:solidFill>
            <a:srgbClr val="7F77DD">
              <a:alpha val="6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B8B3EC">
              <a:alpha val="4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548640"/>
            <a:ext cx="1280160" cy="1280160"/>
          </a:xfrm>
          <a:prstGeom prst="ellipse">
            <a:avLst/>
          </a:prstGeom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029200" y="20116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Obrigado!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5029200" y="34290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B8B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SkoolBay — Marketplace de Skills entre Estudantes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9200" y="42062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D8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675120" y="5029200"/>
            <a:ext cx="5029200" cy="548640"/>
          </a:xfrm>
          <a:prstGeom prst="roundRect">
            <a:avLst>
              <a:gd name="adj" fmla="val 50000"/>
            </a:avLst>
          </a:prstGeom>
          <a:solidFill>
            <a:srgbClr val="7F77DD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51572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50292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github.com/pereira2001/ESTG-ESI-SkoolBay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8B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SkoolBay   ·   Instituto Piaget   ·   Apresentação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1369</Words>
  <Application>Microsoft Macintosh PowerPoint</Application>
  <PresentationFormat>Ecrã Panorâmico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SkoolBay — Marketplace de Skills entre Estudantes</dc:title>
  <dc:subject>PptxGenJS Presentation</dc:subject>
  <dc:creator>Equipa SkoolBay</dc:creator>
  <cp:lastModifiedBy>Diogo Filipe Gonçalves Pereira</cp:lastModifiedBy>
  <cp:revision>2</cp:revision>
  <dcterms:created xsi:type="dcterms:W3CDTF">2026-06-11T09:39:36Z</dcterms:created>
  <dcterms:modified xsi:type="dcterms:W3CDTF">2026-06-13T13:42:23Z</dcterms:modified>
</cp:coreProperties>
</file>